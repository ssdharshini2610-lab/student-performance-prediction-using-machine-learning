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type="screen4x3" cy="6858000" cx="9144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2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4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5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/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685799" y="2416175"/>
            <a:ext cx="7772400" cy="1470025"/>
          </a:xfrm>
        </p:spPr>
        <p:txBody>
          <a:bodyPr/>
          <a:p>
            <a:r>
              <a:t>Project Title</a:t>
            </a: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4948"/>
          </a:bodyPr>
          <a:p>
            <a:r>
              <a:rPr b="1" sz="4020" lang="en-US">
                <a:solidFill>
                  <a:srgbClr val="36363D"/>
                </a:solidFill>
              </a:rPr>
              <a:t>S</a:t>
            </a:r>
            <a:r>
              <a:rPr b="1" sz="4020" lang="en-US">
                <a:solidFill>
                  <a:srgbClr val="36363D"/>
                </a:solidFill>
              </a:rPr>
              <a:t>t</a:t>
            </a:r>
            <a:r>
              <a:rPr b="1" sz="4020" lang="en-US">
                <a:solidFill>
                  <a:srgbClr val="36363D"/>
                </a:solidFill>
              </a:rPr>
              <a:t>udent</a:t>
            </a:r>
            <a:r>
              <a:rPr b="1" sz="4020" lang="en-US">
                <a:solidFill>
                  <a:srgbClr val="36363D"/>
                </a:solidFill>
              </a:rPr>
              <a:t> </a:t>
            </a:r>
            <a:r>
              <a:rPr b="1" sz="4020" lang="en-US">
                <a:solidFill>
                  <a:srgbClr val="36363D"/>
                </a:solidFill>
              </a:rPr>
              <a:t>p</a:t>
            </a:r>
            <a:r>
              <a:rPr b="1" sz="4020" lang="en-US">
                <a:solidFill>
                  <a:srgbClr val="36363D"/>
                </a:solidFill>
              </a:rPr>
              <a:t>e</a:t>
            </a:r>
            <a:r>
              <a:rPr b="1" sz="4020" lang="en-US">
                <a:solidFill>
                  <a:srgbClr val="36363D"/>
                </a:solidFill>
              </a:rPr>
              <a:t>r</a:t>
            </a:r>
            <a:r>
              <a:rPr b="1" sz="4020" lang="en-US">
                <a:solidFill>
                  <a:srgbClr val="36363D"/>
                </a:solidFill>
              </a:rPr>
              <a:t>f</a:t>
            </a:r>
            <a:r>
              <a:rPr b="1" sz="4020" lang="en-US">
                <a:solidFill>
                  <a:srgbClr val="36363D"/>
                </a:solidFill>
              </a:rPr>
              <a:t>o</a:t>
            </a:r>
            <a:r>
              <a:rPr b="1" sz="4020" lang="en-US">
                <a:solidFill>
                  <a:srgbClr val="36363D"/>
                </a:solidFill>
              </a:rPr>
              <a:t>rmance</a:t>
            </a:r>
            <a:r>
              <a:rPr b="1" sz="4020" lang="en-US">
                <a:solidFill>
                  <a:srgbClr val="36363D"/>
                </a:solidFill>
              </a:rPr>
              <a:t> </a:t>
            </a:r>
            <a:r>
              <a:rPr b="1" sz="4020" lang="en-US">
                <a:solidFill>
                  <a:srgbClr val="36363D"/>
                </a:solidFill>
              </a:rPr>
              <a:t>p</a:t>
            </a:r>
            <a:r>
              <a:rPr b="1" sz="4020" lang="en-US">
                <a:solidFill>
                  <a:srgbClr val="36363D"/>
                </a:solidFill>
              </a:rPr>
              <a:t>r</a:t>
            </a:r>
            <a:r>
              <a:rPr b="1" sz="4020" lang="en-US">
                <a:solidFill>
                  <a:srgbClr val="36363D"/>
                </a:solidFill>
              </a:rPr>
              <a:t>e</a:t>
            </a:r>
            <a:r>
              <a:rPr b="1" sz="4020" lang="en-US">
                <a:solidFill>
                  <a:srgbClr val="36363D"/>
                </a:solidFill>
              </a:rPr>
              <a:t>d</a:t>
            </a:r>
            <a:r>
              <a:rPr b="1" sz="4020" lang="en-US">
                <a:solidFill>
                  <a:srgbClr val="36363D"/>
                </a:solidFill>
              </a:rPr>
              <a:t>i</a:t>
            </a:r>
            <a:r>
              <a:rPr b="1" sz="4020" lang="en-US">
                <a:solidFill>
                  <a:srgbClr val="36363D"/>
                </a:solidFill>
              </a:rPr>
              <a:t>c</a:t>
            </a:r>
            <a:r>
              <a:rPr b="1" sz="4020" lang="en-US">
                <a:solidFill>
                  <a:srgbClr val="36363D"/>
                </a:solidFill>
              </a:rPr>
              <a:t>t</a:t>
            </a:r>
            <a:r>
              <a:rPr b="1" sz="4020" lang="en-US">
                <a:solidFill>
                  <a:srgbClr val="36363D"/>
                </a:solidFill>
              </a:rPr>
              <a:t>ion</a:t>
            </a:r>
            <a:r>
              <a:rPr b="1" sz="4020" lang="en-US">
                <a:solidFill>
                  <a:srgbClr val="36363D"/>
                </a:solidFill>
              </a:rPr>
              <a:t> </a:t>
            </a:r>
            <a:r>
              <a:rPr b="1" sz="4020" lang="en-US">
                <a:solidFill>
                  <a:srgbClr val="36363D"/>
                </a:solidFill>
              </a:rPr>
              <a:t>u</a:t>
            </a:r>
            <a:r>
              <a:rPr b="1" sz="4020" lang="en-US">
                <a:solidFill>
                  <a:srgbClr val="36363D"/>
                </a:solidFill>
              </a:rPr>
              <a:t>s</a:t>
            </a:r>
            <a:r>
              <a:rPr b="1" sz="4020" lang="en-US">
                <a:solidFill>
                  <a:srgbClr val="36363D"/>
                </a:solidFill>
              </a:rPr>
              <a:t>i</a:t>
            </a:r>
            <a:r>
              <a:rPr b="1" sz="4020" lang="en-US">
                <a:solidFill>
                  <a:srgbClr val="36363D"/>
                </a:solidFill>
              </a:rPr>
              <a:t>ng</a:t>
            </a:r>
            <a:r>
              <a:rPr b="1" sz="4020" lang="en-US">
                <a:solidFill>
                  <a:srgbClr val="36363D"/>
                </a:solidFill>
              </a:rPr>
              <a:t> </a:t>
            </a:r>
            <a:r>
              <a:rPr b="1" sz="4020" lang="en-US">
                <a:solidFill>
                  <a:srgbClr val="36363D"/>
                </a:solidFill>
              </a:rPr>
              <a:t>m</a:t>
            </a:r>
            <a:r>
              <a:rPr b="1" sz="4020" lang="en-US">
                <a:solidFill>
                  <a:srgbClr val="36363D"/>
                </a:solidFill>
              </a:rPr>
              <a:t>a</a:t>
            </a:r>
            <a:r>
              <a:rPr b="1" sz="4020" lang="en-US">
                <a:solidFill>
                  <a:srgbClr val="36363D"/>
                </a:solidFill>
              </a:rPr>
              <a:t>c</a:t>
            </a:r>
            <a:r>
              <a:rPr b="1" sz="4020" lang="en-US">
                <a:solidFill>
                  <a:srgbClr val="36363D"/>
                </a:solidFill>
              </a:rPr>
              <a:t>h</a:t>
            </a:r>
            <a:r>
              <a:rPr b="1" sz="4020" lang="en-US">
                <a:solidFill>
                  <a:srgbClr val="36363D"/>
                </a:solidFill>
              </a:rPr>
              <a:t>ine</a:t>
            </a:r>
            <a:r>
              <a:rPr b="1" sz="4020" lang="en-US">
                <a:solidFill>
                  <a:srgbClr val="36363D"/>
                </a:solidFill>
              </a:rPr>
              <a:t> </a:t>
            </a:r>
            <a:r>
              <a:rPr b="1" sz="4020" lang="en-US">
                <a:solidFill>
                  <a:srgbClr val="36363D"/>
                </a:solidFill>
              </a:rPr>
              <a:t>l</a:t>
            </a:r>
            <a:r>
              <a:rPr b="1" sz="4020" lang="en-US">
                <a:solidFill>
                  <a:srgbClr val="36363D"/>
                </a:solidFill>
              </a:rPr>
              <a:t>e</a:t>
            </a:r>
            <a:r>
              <a:rPr b="1" sz="4020" lang="en-US">
                <a:solidFill>
                  <a:srgbClr val="36363D"/>
                </a:solidFill>
              </a:rPr>
              <a:t>a</a:t>
            </a:r>
            <a:r>
              <a:rPr b="1" sz="4020" lang="en-US">
                <a:solidFill>
                  <a:srgbClr val="36363D"/>
                </a:solidFill>
              </a:rPr>
              <a:t>r</a:t>
            </a:r>
            <a:r>
              <a:rPr b="1" sz="4020" lang="en-US">
                <a:solidFill>
                  <a:srgbClr val="36363D"/>
                </a:solidFill>
              </a:rPr>
              <a:t>n</a:t>
            </a:r>
            <a:r>
              <a:rPr b="1" sz="4020" lang="en-US">
                <a:solidFill>
                  <a:srgbClr val="36363D"/>
                </a:solidFill>
              </a:rPr>
              <a:t>ing</a:t>
            </a:r>
            <a:endParaRPr altLang="en-US" b="1" sz="4020" lang="zh-CN">
              <a:solidFill>
                <a:srgbClr val="36363D"/>
              </a:solidFill>
            </a:endParaRPr>
          </a:p>
        </p:txBody>
      </p:sp>
      <p:sp>
        <p:nvSpPr>
          <p:cNvPr id="1048665" name=""/>
          <p:cNvSpPr txBox="1"/>
          <p:nvPr/>
        </p:nvSpPr>
        <p:spPr>
          <a:xfrm>
            <a:off x="978875" y="984869"/>
            <a:ext cx="6210157" cy="929640"/>
          </a:xfrm>
          <a:prstGeom prst="rect"/>
        </p:spPr>
        <p:txBody>
          <a:bodyPr rtlCol="0" wrap="square">
            <a:spAutoFit/>
          </a:bodyPr>
          <a:p>
            <a:r>
              <a:rPr b="1" sz="2800" lang="en-US">
                <a:solidFill>
                  <a:srgbClr val="000000"/>
                </a:solidFill>
              </a:rPr>
              <a:t>N</a:t>
            </a:r>
            <a:r>
              <a:rPr b="1" sz="2800" lang="en-US">
                <a:solidFill>
                  <a:srgbClr val="000000"/>
                </a:solidFill>
              </a:rPr>
              <a:t>a</a:t>
            </a:r>
            <a:r>
              <a:rPr b="1" sz="2800" lang="en-US">
                <a:solidFill>
                  <a:srgbClr val="000000"/>
                </a:solidFill>
              </a:rPr>
              <a:t>m</a:t>
            </a:r>
            <a:r>
              <a:rPr b="1" sz="2800" lang="en-US">
                <a:solidFill>
                  <a:srgbClr val="000000"/>
                </a:solidFill>
              </a:rPr>
              <a:t>e</a:t>
            </a:r>
            <a:r>
              <a:rPr b="1" sz="2800" lang="en-US">
                <a:solidFill>
                  <a:srgbClr val="000000"/>
                </a:solidFill>
              </a:rPr>
              <a:t>: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S</a:t>
            </a:r>
            <a:r>
              <a:rPr b="1" sz="2800" lang="en-US">
                <a:solidFill>
                  <a:srgbClr val="000000"/>
                </a:solidFill>
              </a:rPr>
              <a:t>.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S</a:t>
            </a:r>
            <a:r>
              <a:rPr b="1" sz="2800" lang="en-US">
                <a:solidFill>
                  <a:srgbClr val="000000"/>
                </a:solidFill>
              </a:rPr>
              <a:t>.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D</a:t>
            </a:r>
            <a:r>
              <a:rPr b="1" sz="2800" lang="en-US">
                <a:solidFill>
                  <a:srgbClr val="000000"/>
                </a:solidFill>
              </a:rPr>
              <a:t>h</a:t>
            </a:r>
            <a:r>
              <a:rPr b="1" sz="2800" lang="en-US">
                <a:solidFill>
                  <a:srgbClr val="000000"/>
                </a:solidFill>
              </a:rPr>
              <a:t>a</a:t>
            </a:r>
            <a:r>
              <a:rPr b="1" sz="2800" lang="en-US">
                <a:solidFill>
                  <a:srgbClr val="000000"/>
                </a:solidFill>
              </a:rPr>
              <a:t>r</a:t>
            </a:r>
            <a:r>
              <a:rPr b="1" sz="2800" lang="en-US">
                <a:solidFill>
                  <a:srgbClr val="000000"/>
                </a:solidFill>
              </a:rPr>
              <a:t>s</a:t>
            </a:r>
            <a:r>
              <a:rPr b="1" sz="2800" lang="en-US">
                <a:solidFill>
                  <a:srgbClr val="000000"/>
                </a:solidFill>
              </a:rPr>
              <a:t>hini</a:t>
            </a:r>
            <a:endParaRPr sz="2800" lang="en-IN">
              <a:solidFill>
                <a:srgbClr val="000000"/>
              </a:solidFill>
            </a:endParaRPr>
          </a:p>
          <a:p>
            <a:r>
              <a:rPr b="1" sz="2800" lang="en-US">
                <a:solidFill>
                  <a:srgbClr val="000000"/>
                </a:solidFill>
              </a:rPr>
              <a:t>R</a:t>
            </a:r>
            <a:r>
              <a:rPr b="1" sz="2800" lang="en-US">
                <a:solidFill>
                  <a:srgbClr val="000000"/>
                </a:solidFill>
              </a:rPr>
              <a:t>e</a:t>
            </a:r>
            <a:r>
              <a:rPr b="1" sz="2800" lang="en-US">
                <a:solidFill>
                  <a:srgbClr val="000000"/>
                </a:solidFill>
              </a:rPr>
              <a:t>g</a:t>
            </a:r>
            <a:r>
              <a:rPr b="1" sz="2800" lang="en-US">
                <a:solidFill>
                  <a:srgbClr val="000000"/>
                </a:solidFill>
              </a:rPr>
              <a:t>ister</a:t>
            </a:r>
            <a:r>
              <a:rPr b="1" sz="2800" lang="en-US">
                <a:solidFill>
                  <a:srgbClr val="000000"/>
                </a:solidFill>
              </a:rPr>
              <a:t> </a:t>
            </a:r>
            <a:r>
              <a:rPr b="1" sz="2800" lang="en-US">
                <a:solidFill>
                  <a:srgbClr val="000000"/>
                </a:solidFill>
              </a:rPr>
              <a:t>n</a:t>
            </a:r>
            <a:r>
              <a:rPr b="1" sz="2800" lang="en-US">
                <a:solidFill>
                  <a:srgbClr val="000000"/>
                </a:solidFill>
              </a:rPr>
              <a:t>u</a:t>
            </a:r>
            <a:r>
              <a:rPr b="1" sz="2800" lang="en-US">
                <a:solidFill>
                  <a:srgbClr val="000000"/>
                </a:solidFill>
              </a:rPr>
              <a:t>m</a:t>
            </a:r>
            <a:r>
              <a:rPr b="1" sz="2800" lang="en-US">
                <a:solidFill>
                  <a:srgbClr val="000000"/>
                </a:solidFill>
              </a:rPr>
              <a:t>ber</a:t>
            </a:r>
            <a:r>
              <a:rPr b="1" sz="2800" lang="en-US">
                <a:solidFill>
                  <a:srgbClr val="000000"/>
                </a:solidFill>
              </a:rPr>
              <a:t>:</a:t>
            </a:r>
            <a:r>
              <a:rPr b="1" sz="2800" lang="en-US">
                <a:solidFill>
                  <a:srgbClr val="000000"/>
                </a:solidFill>
              </a:rPr>
              <a:t>9</a:t>
            </a:r>
            <a:r>
              <a:rPr b="1" sz="2800" lang="en-US">
                <a:solidFill>
                  <a:srgbClr val="000000"/>
                </a:solidFill>
              </a:rPr>
              <a:t>2</a:t>
            </a:r>
            <a:r>
              <a:rPr b="1" sz="2800" lang="en-US">
                <a:solidFill>
                  <a:srgbClr val="000000"/>
                </a:solidFill>
              </a:rPr>
              <a:t>2</a:t>
            </a:r>
            <a:r>
              <a:rPr b="1" sz="2800" lang="en-US">
                <a:solidFill>
                  <a:srgbClr val="000000"/>
                </a:solidFill>
              </a:rPr>
              <a:t>5</a:t>
            </a:r>
            <a:r>
              <a:rPr b="1" sz="2800" lang="en-US">
                <a:solidFill>
                  <a:srgbClr val="000000"/>
                </a:solidFill>
              </a:rPr>
              <a:t>2</a:t>
            </a:r>
            <a:r>
              <a:rPr b="1" sz="2800" lang="en-US">
                <a:solidFill>
                  <a:srgbClr val="000000"/>
                </a:solidFill>
              </a:rPr>
              <a:t>5</a:t>
            </a:r>
            <a:r>
              <a:rPr b="1" sz="2800" lang="en-US">
                <a:solidFill>
                  <a:srgbClr val="000000"/>
                </a:solidFill>
              </a:rPr>
              <a:t>2</a:t>
            </a:r>
            <a:r>
              <a:rPr b="1" sz="2800" lang="en-US">
                <a:solidFill>
                  <a:srgbClr val="000000"/>
                </a:solidFill>
              </a:rPr>
              <a:t>4</a:t>
            </a:r>
            <a:r>
              <a:rPr b="1" sz="2800" lang="en-US">
                <a:solidFill>
                  <a:srgbClr val="000000"/>
                </a:solidFill>
              </a:rPr>
              <a:t>3</a:t>
            </a:r>
            <a:r>
              <a:rPr b="1" sz="2800" lang="en-US">
                <a:solidFill>
                  <a:srgbClr val="000000"/>
                </a:solidFill>
              </a:rPr>
              <a:t>0</a:t>
            </a:r>
            <a:r>
              <a:rPr b="1" sz="2800" lang="en-US">
                <a:solidFill>
                  <a:srgbClr val="000000"/>
                </a:solidFill>
              </a:rPr>
              <a:t>3</a:t>
            </a:r>
            <a:r>
              <a:rPr b="1" sz="2800" lang="en-US">
                <a:solidFill>
                  <a:srgbClr val="000000"/>
                </a:solidFill>
              </a:rPr>
              <a:t>8</a:t>
            </a:r>
            <a:endParaRPr sz="2800"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/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Abstract</a:t>
            </a: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This project predicts student academic performance using Machine Learning techniques. The system analyzes attendance, internal marks, assignment scores, and academic records to identify students who may require additional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/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Objectives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Predict student performance</a:t>
            </a:r>
          </a:p>
          <a:p>
            <a:r>
              <a:t>Identify at-risk students</a:t>
            </a:r>
          </a:p>
          <a:p>
            <a:r>
              <a:t>Analyze academic data</a:t>
            </a:r>
          </a:p>
          <a:p>
            <a:r>
              <a:t>Generate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Frontend Details</a:t>
            </a:r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HTML, CSS, Bootstrap, JavaScript</a:t>
            </a:r>
          </a:p>
          <a:p>
            <a:r>
              <a:t>Pages: Login, Dashboard, Student Entry, Prediction,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Backend Details</a:t>
            </a:r>
          </a:p>
        </p:txBody>
      </p:sp>
      <p:sp>
        <p:nvSpPr>
          <p:cNvPr id="104860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Python Flask, Scikit-Learn, MySQL</a:t>
            </a:r>
          </a:p>
          <a:p>
            <a:r>
              <a:t>Modules: Authentication, Data Management, ML Prediction,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System Architecture</a:t>
            </a:r>
          </a:p>
        </p:txBody>
      </p:sp>
      <p:sp>
        <p:nvSpPr>
          <p:cNvPr id="104860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Frontend -&gt; Flask Backend -&gt; ML Model -&gt; MySQL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Use Case Diagram</a:t>
            </a:r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457200" y="1166019"/>
            <a:ext cx="8229600" cy="4525963"/>
          </a:xfrm>
        </p:spPr>
        <p:txBody>
          <a:bodyPr/>
          <a:p>
            <a:r>
              <a:t>Admin: Login, Manage Data, Generate Reports</a:t>
            </a:r>
          </a:p>
          <a:p>
            <a:r>
              <a:t>Student: Login, View Predictions</a:t>
            </a:r>
          </a:p>
        </p:txBody>
      </p:sp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21584714">
            <a:off x="676812" y="2774776"/>
            <a:ext cx="7238401" cy="4851189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/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ER Diagram</a:t>
            </a:r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>
          <a:xfrm>
            <a:off x="457199" y="1166018"/>
            <a:ext cx="8229600" cy="4525963"/>
          </a:xfrm>
        </p:spPr>
        <p:txBody>
          <a:bodyPr/>
          <a:p>
            <a:r>
              <a:t>Student -&gt; Academic_Record -&gt; Prediction</a:t>
            </a:r>
          </a:p>
          <a:p>
            <a:r>
              <a:t>Admin manages system</a:t>
            </a:r>
          </a:p>
        </p:txBody>
      </p:sp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54415">
            <a:off x="725265" y="2628181"/>
            <a:ext cx="7626990" cy="5538020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/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Database Tables</a:t>
            </a:r>
          </a:p>
        </p:txBody>
      </p:sp>
      <p:sp>
        <p:nvSpPr>
          <p:cNvPr id="104860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Student</a:t>
            </a:r>
          </a:p>
          <a:p>
            <a:r>
              <a:t>Academic_Record</a:t>
            </a:r>
          </a:p>
          <a:p>
            <a:r>
              <a:t>Prediction</a:t>
            </a:r>
          </a:p>
          <a:p>
            <a:r>
              <a:t>Admin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/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Conclusion</a:t>
            </a:r>
          </a:p>
        </p:txBody>
      </p:sp>
      <p:sp>
        <p:nvSpPr>
          <p:cNvPr id="104861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AI-based system for predicting student performance and identifying students needing academic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2406ERN9CI</dc:creator>
  <cp:lastModifiedBy>Steve Canny</cp:lastModifiedBy>
  <dcterms:created xsi:type="dcterms:W3CDTF">2013-01-26T11:14:16Z</dcterms:created>
  <dcterms:modified xsi:type="dcterms:W3CDTF">2026-06-22T14:30:13Z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967ea4f5d0784e51898b0aabdd4d0b75</vt:lpwstr>
  </property>
</Properties>
</file>